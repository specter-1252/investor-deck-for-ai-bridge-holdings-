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E897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2EDE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</c:v>
                </c:pt>
                <c:pt idx="1">
                  <c:v>2.4</c:v>
                </c:pt>
                <c:pt idx="2">
                  <c:v>8.8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F2EDE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AF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E282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AF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210"/>
        </a:solidFill>
        <a:ln>
          <a:noFill/>
        </a:ln>
        <a:effectLst/>
      </c:spPr>
    </c:plotArea>
    <c:plotVisOnly val="1"/>
    <c:dispBlanksAs val="span"/>
  </c:chart>
  <c:spPr>
    <a:solidFill>
      <a:srgbClr val="14121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560320"/>
            <a:ext cx="5486400" cy="4572000"/>
          </a:xfrm>
          <a:prstGeom prst="ellipse">
            <a:avLst/>
          </a:prstGeom>
          <a:solidFill>
            <a:srgbClr val="3D1F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108960"/>
            <a:ext cx="3657600" cy="3200400"/>
          </a:xfrm>
          <a:prstGeom prst="ellipse">
            <a:avLst/>
          </a:prstGeom>
          <a:solidFill>
            <a:srgbClr val="5C2E00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474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INVESTOR DECK  ·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229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AIBridge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8229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8973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Holdings</a:t>
            </a:r>
            <a:endParaRPr lang="en-US" sz="9600" dirty="0"/>
          </a:p>
        </p:txBody>
      </p:sp>
      <p:sp>
        <p:nvSpPr>
          <p:cNvPr id="8" name="Shape 6"/>
          <p:cNvSpPr/>
          <p:nvPr/>
        </p:nvSpPr>
        <p:spPr>
          <a:xfrm>
            <a:off x="594360" y="3154680"/>
            <a:ext cx="594360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3101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DE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World's First AI Franchise Ecosystem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373075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Helping people, founders &amp; SMBs navigate the AI transition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find their path, build their business, and earn.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4498848"/>
            <a:ext cx="2377440" cy="420624"/>
          </a:xfrm>
          <a:prstGeom prst="rect">
            <a:avLst/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449884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21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Raising $2M Seed  ·  SAFE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03920" y="4828032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0" kern="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HUMAN CRISIS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300 million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people are about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 lose their jobs.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309360" y="6583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Anxiety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09360" y="1133856"/>
            <a:ext cx="256032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0" y="122529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B8AFA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Confusion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309360" y="1700784"/>
            <a:ext cx="256032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79222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B8AFA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Irrelevance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309360" y="2267712"/>
            <a:ext cx="256032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3591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B8AFA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Identity loss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09360" y="2834640"/>
            <a:ext cx="256032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6B625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Burnout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035040" y="658368"/>
            <a:ext cx="7315" cy="3035808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493008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39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E8973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This is not a technology problem. It is a human one.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" y="48280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Goldman Sachs, 2026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503920" y="4828032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0" kern="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ECONOMIC CRISIS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-274320" y="384048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rgbClr val="1E1A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$4.4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94360" y="2578608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973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Trillion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 annual AI economic value — being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captured by the few who are ready.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621792"/>
            <a:ext cx="2743200" cy="1261872"/>
          </a:xfrm>
          <a:prstGeom prst="rect">
            <a:avLst/>
          </a:prstGeom>
          <a:solidFill>
            <a:srgbClr val="1C1915"/>
          </a:solidFill>
          <a:ln w="7620">
            <a:solidFill>
              <a:srgbClr val="2E2820"/>
            </a:solidFill>
            <a:prstDash val="solid"/>
          </a:ln>
          <a:effectLst>
            <a:outerShdw sx="100000" sy="100000" kx="0" ky="0" algn="bl" rotWithShape="0" blurRad="304800" dist="76200" dir="81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09360" y="713232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6B3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300M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309360" y="13075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Jobs exposed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to automation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169164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Goldman Sachs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217920" y="2039112"/>
            <a:ext cx="2743200" cy="1261872"/>
          </a:xfrm>
          <a:prstGeom prst="rect">
            <a:avLst/>
          </a:prstGeom>
          <a:solidFill>
            <a:srgbClr val="1C1915"/>
          </a:solidFill>
          <a:ln w="7620">
            <a:solidFill>
              <a:srgbClr val="2E2820"/>
            </a:solidFill>
            <a:prstDash val="solid"/>
          </a:ln>
          <a:effectLst>
            <a:outerShdw sx="100000" sy="100000" kx="0" ky="0" algn="bl" rotWithShape="0" blurRad="304800" dist="76200" dir="81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2130552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973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$1T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309360" y="27249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Lost annually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to burnout &amp; anxiety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09360" y="310896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WHO / HBS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217920" y="3456432"/>
            <a:ext cx="2743200" cy="1261872"/>
          </a:xfrm>
          <a:prstGeom prst="rect">
            <a:avLst/>
          </a:prstGeom>
          <a:solidFill>
            <a:srgbClr val="1C1915"/>
          </a:solidFill>
          <a:ln w="7620">
            <a:solidFill>
              <a:srgbClr val="2E2820"/>
            </a:solidFill>
            <a:prstDash val="solid"/>
          </a:ln>
          <a:effectLst>
            <a:outerShdw sx="100000" sy="100000" kx="0" ky="0" algn="bl" rotWithShape="0" blurRad="304800" dist="76200" dir="81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3547872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973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$9T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309360" y="41422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Wellness economy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by 2028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09360" y="452628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GWI 2024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503920" y="4828032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0" kern="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GAP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Nobody is solving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both crises at once.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94360" y="2514600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26700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WHAT EXISTS TODAY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38912" y="2907792"/>
            <a:ext cx="2606040" cy="7315"/>
          </a:xfrm>
          <a:prstGeom prst="rect">
            <a:avLst/>
          </a:prstGeom>
          <a:solidFill>
            <a:srgbClr val="6B6259"/>
          </a:solidFill>
          <a:ln w="12700">
            <a:solidFill>
              <a:srgbClr val="6B62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99923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AI tools &amp; automations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332841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Online courses (theory)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36576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Coaching / wellness apps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398678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AI agencies (expensive)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43159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ChatGPT (generic)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4645152"/>
            <a:ext cx="260604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470916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None of these solve the full transition.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19272" y="26700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GAP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319272" y="2907792"/>
            <a:ext cx="2606040" cy="7315"/>
          </a:xfrm>
          <a:prstGeom prst="rect">
            <a:avLst/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299923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No income from Day 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9272" y="332841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No human support layer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9272" y="36576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No personalized path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9272" y="398678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No franchise model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9272" y="43159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No ecosystem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19272" y="4645152"/>
            <a:ext cx="260604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470916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This is where AIBridge lives.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99632" y="26700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BAF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WHAT PEOPLE NEED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199632" y="2907792"/>
            <a:ext cx="2606040" cy="7315"/>
          </a:xfrm>
          <a:prstGeom prst="rect">
            <a:avLst/>
          </a:prstGeom>
          <a:solidFill>
            <a:srgbClr val="8BAF8A"/>
          </a:solidFill>
          <a:ln w="12700">
            <a:solidFill>
              <a:srgbClr val="8BA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299923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A clear starting point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99632" y="332841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AI income in days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99632" y="36576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Psycho-social support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9632" y="398678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Done-for-you infrastructure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99632" y="43159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A community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99632" y="4645152"/>
            <a:ext cx="260604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470916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AF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This is what we built.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03920" y="4828032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0" kern="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INSIGHT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6858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"The AI revolution is not just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 economic transition.</a:t>
            </a:r>
            <a:endParaRPr lang="en-US" sz="3800" dirty="0"/>
          </a:p>
          <a:p>
            <a:pPr algn="l" indent="0" marL="0">
              <a:buNone/>
            </a:pP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It is a human transition."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dirty="0">
                <a:solidFill>
                  <a:srgbClr val="2A1E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“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594360" y="3611880"/>
            <a:ext cx="4572000" cy="7315"/>
          </a:xfrm>
          <a:prstGeom prst="rect">
            <a:avLst/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7673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This is not an opportunistic AI startup.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4407408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4325112"/>
            <a:ext cx="182880" cy="182880"/>
          </a:xfrm>
          <a:prstGeom prst="ellipse">
            <a:avLst/>
          </a:prstGeom>
          <a:solidFill>
            <a:srgbClr val="2E2820"/>
          </a:solidFill>
          <a:ln w="10160">
            <a:solidFill>
              <a:srgbClr val="6B62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572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Anxiety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48280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Search begins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258568" y="4325112"/>
            <a:ext cx="182880" cy="182880"/>
          </a:xfrm>
          <a:prstGeom prst="ellipse">
            <a:avLst/>
          </a:prstGeom>
          <a:solidFill>
            <a:srgbClr val="2E2820"/>
          </a:solidFill>
          <a:ln w="10160">
            <a:solidFill>
              <a:srgbClr val="B8AF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92808" y="4572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Meditation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892808" y="48280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Mind rewired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648456" y="4325112"/>
            <a:ext cx="182880" cy="182880"/>
          </a:xfrm>
          <a:prstGeom prst="ellipse">
            <a:avLst/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4572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Apple  15 yrs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82696" y="48280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WW Tech Leadership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038344" y="4325112"/>
            <a:ext cx="182880" cy="182880"/>
          </a:xfrm>
          <a:prstGeom prst="ellipse">
            <a:avLst/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4572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GoToRetreats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72584" y="48280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Marketplace built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428232" y="4325112"/>
            <a:ext cx="182880" cy="182880"/>
          </a:xfrm>
          <a:prstGeom prst="ellipse">
            <a:avLst/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62472" y="4572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GoToStudio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62472" y="48280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Business infra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818120" y="4325112"/>
            <a:ext cx="182880" cy="1828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4572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AIBridge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452360" y="48280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mission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503920" y="4828032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0" kern="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SOLUTION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47548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AI transition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infrastructure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 humanity.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94360" y="3273552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One holding company. Three reinforcing brands.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One unified mission.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0" y="457200"/>
            <a:ext cx="3429000" cy="1389888"/>
          </a:xfrm>
          <a:prstGeom prst="rect">
            <a:avLst/>
          </a:prstGeom>
          <a:solidFill>
            <a:srgbClr val="1C1915"/>
          </a:solidFill>
          <a:ln w="7620">
            <a:solidFill>
              <a:srgbClr val="2E2820"/>
            </a:solidFill>
            <a:prstDash val="solid"/>
          </a:ln>
          <a:effectLst>
            <a:outerShdw sx="100000" sy="100000" kx="0" ky="0" algn="bl" rotWithShape="0" blurRad="304800" dist="76200" dir="81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0" y="457200"/>
            <a:ext cx="54864" cy="1389888"/>
          </a:xfrm>
          <a:prstGeom prst="rect">
            <a:avLst/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50992" y="5943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73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AIBridge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50992" y="960120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FRANCHISE ECOSYSTEM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650992" y="1170432"/>
            <a:ext cx="3090672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50992" y="1261872"/>
            <a:ext cx="3127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Socrates Engine + 4 archetypes + AI solution marketplace + implementation.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0" y="1993392"/>
            <a:ext cx="3429000" cy="1389888"/>
          </a:xfrm>
          <a:prstGeom prst="rect">
            <a:avLst/>
          </a:prstGeom>
          <a:solidFill>
            <a:srgbClr val="1C1915"/>
          </a:solidFill>
          <a:ln w="7620">
            <a:solidFill>
              <a:srgbClr val="2E2820"/>
            </a:solidFill>
            <a:prstDash val="solid"/>
          </a:ln>
          <a:effectLst>
            <a:outerShdw sx="100000" sy="100000" kx="0" ky="0" algn="bl" rotWithShape="0" blurRad="304800" dist="76200" dir="81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0" y="1993392"/>
            <a:ext cx="54864" cy="1389888"/>
          </a:xfrm>
          <a:prstGeom prst="rect">
            <a:avLst/>
          </a:prstGeom>
          <a:solidFill>
            <a:srgbClr val="8BAF8A"/>
          </a:solidFill>
          <a:ln w="12700">
            <a:solidFill>
              <a:srgbClr val="8BA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50992" y="21305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F8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GoToRetreats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50992" y="2496312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PSYCHO-SOCIAL TRANSITION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650992" y="2706624"/>
            <a:ext cx="3090672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50992" y="2798064"/>
            <a:ext cx="3127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500+ listings, 1,000+ users. Human trust layer. Top-of-funnel.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3529584"/>
            <a:ext cx="3429000" cy="1389888"/>
          </a:xfrm>
          <a:prstGeom prst="rect">
            <a:avLst/>
          </a:prstGeom>
          <a:solidFill>
            <a:srgbClr val="1C1915"/>
          </a:solidFill>
          <a:ln w="7620">
            <a:solidFill>
              <a:srgbClr val="2E2820"/>
            </a:solidFill>
            <a:prstDash val="solid"/>
          </a:ln>
          <a:effectLst>
            <a:outerShdw sx="100000" sy="100000" kx="0" ky="0" algn="bl" rotWithShape="0" blurRad="304800" dist="76200" dir="81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0" y="3529584"/>
            <a:ext cx="54864" cy="1389888"/>
          </a:xfrm>
          <a:prstGeom prst="rect">
            <a:avLst/>
          </a:prstGeom>
          <a:solidFill>
            <a:srgbClr val="9B9490"/>
          </a:solidFill>
          <a:ln w="12700">
            <a:solidFill>
              <a:srgbClr val="9B9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50992" y="366674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949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GoToStudio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50992" y="4032504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BUSINESS OPERATING LAYER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650992" y="4242816"/>
            <a:ext cx="3090672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50992" y="4334256"/>
            <a:ext cx="3127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CRM, funnels, automations. The plumbing every partner needs.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3913632"/>
            <a:ext cx="457200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02336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Economic transition feeds psycho-social trust  ·  Trust drives adoption  ·  GoToStudio powers both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503920" y="4828032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0" kern="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CORE PRODUCT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Socrates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Engine.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94360" y="2359152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V1 complete  ·  AI-powered career clarity &amp; path-finding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entry point for every AIBridge user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2944368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30632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E282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84048" y="3749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Discover Strengths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4133088"/>
            <a:ext cx="196596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224528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Maps your skills, network &amp; goals to find the ideal AI income path.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14016" y="3429000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06040" y="30632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E282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02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560320" y="3749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Get Your Roadmap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4133088"/>
            <a:ext cx="196596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4224528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generates a personalized business plan with niche &amp; revenue projections.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90288" y="3429000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82312" y="30632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E282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03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4736592" y="3749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Activate &amp; Deploy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36592" y="4133088"/>
            <a:ext cx="196596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4224528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Launch GoToStudio with pre-built AI solutions — ready to sell in days.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66560" y="3429000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58584" y="30632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E282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04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912864" y="3749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Scale &amp; Earn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12864" y="4133088"/>
            <a:ext cx="196596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12864" y="4224528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Close clients, list on marketplace. Refer others for 20% lifetime commission.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0" y="4828032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0" kern="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USER ARCHETYPES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Four paths.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One bridge.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21284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Every person who comes to AIBridge takes the Socrates assessment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and is routed to the path that fits their DNA.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2816352"/>
            <a:ext cx="2011680" cy="2212848"/>
          </a:xfrm>
          <a:prstGeom prst="rect">
            <a:avLst/>
          </a:prstGeom>
          <a:solidFill>
            <a:srgbClr val="1C1915"/>
          </a:solidFill>
          <a:ln w="7620">
            <a:solidFill>
              <a:srgbClr val="2E2820"/>
            </a:solidFill>
            <a:prstDash val="solid"/>
          </a:ln>
          <a:effectLst>
            <a:outerShdw sx="100000" sy="100000" kx="0" ky="0" algn="bl" rotWithShape="0" blurRad="304800" dist="76200" dir="81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2816352"/>
            <a:ext cx="2011680" cy="45720"/>
          </a:xfrm>
          <a:prstGeom prst="rect">
            <a:avLst/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292608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INCOME SEEKER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21208" y="312724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Certified Partner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21208" y="3621024"/>
            <a:ext cx="173736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3703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73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25% recurring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4005072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Sell vetted AI solutions. We provide the storefront, CRM, and leads. Just hustle.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0" y="2816352"/>
            <a:ext cx="2011680" cy="2212848"/>
          </a:xfrm>
          <a:prstGeom prst="rect">
            <a:avLst/>
          </a:prstGeom>
          <a:solidFill>
            <a:srgbClr val="1C1915"/>
          </a:solidFill>
          <a:ln w="7620">
            <a:solidFill>
              <a:srgbClr val="2E2820"/>
            </a:solidFill>
            <a:prstDash val="solid"/>
          </a:ln>
          <a:effectLst>
            <a:outerShdw sx="100000" sy="100000" kx="0" ky="0" algn="bl" rotWithShape="0" blurRad="304800" dist="76200" dir="81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2816352"/>
            <a:ext cx="2011680" cy="45720"/>
          </a:xfrm>
          <a:prstGeom prst="rect">
            <a:avLst/>
          </a:prstGeom>
          <a:solidFill>
            <a:srgbClr val="B8AFA3"/>
          </a:solidFill>
          <a:ln w="12700">
            <a:solidFill>
              <a:srgbClr val="B8AF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292608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AGENCY OWNER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697480" y="312724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Elite Entrepreneur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697480" y="3621024"/>
            <a:ext cx="173736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3703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FA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100% margin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97480" y="4005072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DIY infrastructure. Build and own your AI agency with our toolstack.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36592" y="2816352"/>
            <a:ext cx="2011680" cy="2212848"/>
          </a:xfrm>
          <a:prstGeom prst="rect">
            <a:avLst/>
          </a:prstGeom>
          <a:solidFill>
            <a:srgbClr val="1C1915"/>
          </a:solidFill>
          <a:ln w="7620">
            <a:solidFill>
              <a:srgbClr val="2E2820"/>
            </a:solidFill>
            <a:prstDash val="solid"/>
          </a:ln>
          <a:effectLst>
            <a:outerShdw sx="100000" sy="100000" kx="0" ky="0" algn="bl" rotWithShape="0" blurRad="304800" dist="76200" dir="810000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36592" y="2816352"/>
            <a:ext cx="2011680" cy="45720"/>
          </a:xfrm>
          <a:prstGeom prst="rect">
            <a:avLst/>
          </a:prstGeom>
          <a:solidFill>
            <a:srgbClr val="8BAF8A"/>
          </a:solidFill>
          <a:ln w="12700">
            <a:solidFill>
              <a:srgbClr val="8BAF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92608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8BAF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EXECUTIVE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873752" y="312724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CEO Entrepreneur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873752" y="3621024"/>
            <a:ext cx="173736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703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AF8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Done-for-you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73752" y="4005072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Own a Done-For-You AI franchise. We build, you scale. White-labeled.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12864" y="2816352"/>
            <a:ext cx="2011680" cy="2212848"/>
          </a:xfrm>
          <a:prstGeom prst="rect">
            <a:avLst/>
          </a:prstGeom>
          <a:solidFill>
            <a:srgbClr val="1C1915"/>
          </a:solidFill>
          <a:ln w="7620">
            <a:solidFill>
              <a:srgbClr val="2E2820"/>
            </a:solidFill>
            <a:prstDash val="solid"/>
          </a:ln>
          <a:effectLst>
            <a:outerShdw sx="100000" sy="100000" kx="0" ky="0" algn="bl" rotWithShape="0" blurRad="304800" dist="76200" dir="8100000">
              <a:srgbClr val="000000">
                <a:alpha val="4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12864" y="2816352"/>
            <a:ext cx="201168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0024" y="292608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FF6B3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VISIONARY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7050024" y="312724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Venture Studio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050024" y="3621024"/>
            <a:ext cx="173736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50024" y="3703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Proprietary IP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50024" y="4005072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Build software ownership from scratch. Move from paycheck to equity.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503920" y="4828032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0" kern="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TRACTION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foundation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is already built.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94360" y="2084832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12848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973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500+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18211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Retreat listings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on GoToRetreats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2212848"/>
            <a:ext cx="7315" cy="1499616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33472" y="2212848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1,000+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2633472" y="318211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Users in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ecosystem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90872" y="2212848"/>
            <a:ext cx="7315" cy="1499616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2212848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8BAF8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V1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809744" y="318211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Socrates Engine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complete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67144" y="2212848"/>
            <a:ext cx="7315" cy="1499616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86016" y="2212848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B8AFA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986016" y="318211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Years of Apple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experience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794760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9136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Already built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46320" y="39136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BAF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$2M unlocks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418795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Live marketplace — 500+ listings, real URLs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446227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Socrates Engine V1 — AI assessment + routing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" y="473659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GoToStudio — CRM, funnels, automations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418795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100 paying subscribers in 90 days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446227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Certified partner ecosystem launch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473659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First enterprise pilot programs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503920" y="4828032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0" kern="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MARKET OPPORTUNITY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Three massive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markets converging.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94360" y="2084832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286000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973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371600" y="2377440"/>
            <a:ext cx="7315" cy="548640"/>
          </a:xfrm>
          <a:prstGeom prst="rect">
            <a:avLst/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22860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973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Multi-Trillion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670048"/>
            <a:ext cx="7178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Annual AI economic value + corporate training ($361B+) + global wellness ($9T)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4360" y="3063240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182112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AFA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SAM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371600" y="3273552"/>
            <a:ext cx="7315" cy="548640"/>
          </a:xfrm>
          <a:prstGeom prst="rect">
            <a:avLst/>
          </a:prstGeom>
          <a:solidFill>
            <a:srgbClr val="B8AFA3"/>
          </a:solidFill>
          <a:ln w="12700">
            <a:solidFill>
              <a:srgbClr val="B8AF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31821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AFA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~$12B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08760" y="3566160"/>
            <a:ext cx="7178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U.S. SMBs, creators, retreat leaders &amp; founders actively seeking AI adoption and income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3959352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078224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625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SOM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1371600" y="4169664"/>
            <a:ext cx="7315" cy="548640"/>
          </a:xfrm>
          <a:prstGeom prst="rect">
            <a:avLst/>
          </a:prstGeom>
          <a:solidFill>
            <a:srgbClr val="6B6259"/>
          </a:solidFill>
          <a:ln w="12700">
            <a:solidFill>
              <a:srgbClr val="6B62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40782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625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5–10K customers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462272"/>
            <a:ext cx="7178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Paying ecosystem accounts across all three brands within 3 years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4681728"/>
            <a:ext cx="7955280" cy="329184"/>
          </a:xfrm>
          <a:prstGeom prst="rect">
            <a:avLst/>
          </a:prstGeom>
          <a:solidFill>
            <a:srgbClr val="1C1915"/>
          </a:solidFill>
          <a:ln w="7620">
            <a:solidFill>
              <a:srgbClr val="E897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681728"/>
            <a:ext cx="7635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AIBridge sits where AI adoption, workforce reinvention, SMB transformation and psycho-social resilience converge.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5047488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McKinsey 2023  ·  Allied Market Research  ·  GWI 2024  ·  SBA 2025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503920" y="4828032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0" kern="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BUSINESS MODEL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Four streams.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Compounds over time.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94360" y="2084832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2128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SUBSCRIPTIONS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84048" y="242316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973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$33–$99/mo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84048" y="2971800"/>
            <a:ext cx="196596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30540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Growth Plan · $33/mo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33741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 Plan · $99/mo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36941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GoToStudio bundled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40142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Low friction entry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4352544"/>
            <a:ext cx="196596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44256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Target ARPA $60–100/mo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68880" y="2212848"/>
            <a:ext cx="7315" cy="2423160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22128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MARKETPLACE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60320" y="242316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AFA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3–7% fee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560320" y="2971800"/>
            <a:ext cx="196596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30540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7% commission free plan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60320" y="33741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3% growth plan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60320" y="36941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0% pro plan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60320" y="40142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Scales with GMV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0" y="4352544"/>
            <a:ext cx="196596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44256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Volume scales revenue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45152" y="2212848"/>
            <a:ext cx="7315" cy="2423160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22128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IMPLEMENTATION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736592" y="242316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AFA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$5K–$15K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736592" y="2971800"/>
            <a:ext cx="196596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30540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solution builds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36592" y="33741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Marketing automation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36592" y="36941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Founder services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36592" y="40142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Avg project $8K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36592" y="4352544"/>
            <a:ext cx="196596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44256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Immediate cash flow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21424" y="2212848"/>
            <a:ext cx="7315" cy="2423160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12864" y="22128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ENTERPRISE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912864" y="242316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$50K–$200K/yr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6912864" y="2971800"/>
            <a:ext cx="196596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12864" y="30540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transition programs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12864" y="33741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Governance &amp; certification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912864" y="36941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Enablement at scale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12864" y="40142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Multi-year contracts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912864" y="4352544"/>
            <a:ext cx="196596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12864" y="44256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High-ticket upside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503920" y="4828032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0" kern="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GO-TO-MARKET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Start where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trust already exists.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94360" y="2084832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17627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Retreat &amp; founder audiences are ideal early adopters — they are already seeking reinvention.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2578608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70432" y="2688336"/>
            <a:ext cx="7315" cy="347472"/>
          </a:xfrm>
          <a:prstGeom prst="rect">
            <a:avLst/>
          </a:prstGeom>
          <a:solidFill>
            <a:srgbClr val="B8AFA3"/>
          </a:solidFill>
          <a:ln w="12700">
            <a:solidFill>
              <a:srgbClr val="B8A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2578608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Attract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88920" y="2578608"/>
            <a:ext cx="6035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GTR community (1,000+ users), content, podcasts, SEO, partner forums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3145536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182112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70432" y="3291840"/>
            <a:ext cx="7315" cy="347472"/>
          </a:xfrm>
          <a:prstGeom prst="rect">
            <a:avLst/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3182112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Assess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8920" y="3182112"/>
            <a:ext cx="6035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Socrates Engine routes every user to their ideal AI path in 2 minutes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3749040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85616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70432" y="3895344"/>
            <a:ext cx="7315" cy="347472"/>
          </a:xfrm>
          <a:prstGeom prst="rect">
            <a:avLst/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8448" y="3785616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Convert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88920" y="3785616"/>
            <a:ext cx="6035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Subscriptions, marketplace transactions, implementation services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4352544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389120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170432" y="4498848"/>
            <a:ext cx="7315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98448" y="4389120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Expand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88920" y="4389120"/>
            <a:ext cx="6035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Certified partners, agencies, enterprises — 20% lifetime referral loop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5029200"/>
            <a:ext cx="7955280" cy="201168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502920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GTR community is the beachhead · Socrates converts · Partners distribute · The flywheel compounds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503920" y="4828032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0" kern="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COMPETITIVE LANDSCAPE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 one does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what we do.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594360" y="2084832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46120" y="21762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AIBridge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46120" y="2176272"/>
            <a:ext cx="1371600" cy="7315"/>
          </a:xfrm>
          <a:prstGeom prst="rect">
            <a:avLst/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2468880"/>
            <a:ext cx="1371600" cy="7315"/>
          </a:xfrm>
          <a:prstGeom prst="rect">
            <a:avLst/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1762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Coursera / Udemy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80760" y="21762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Agencies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60920" y="21762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ChatGPT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" y="2468880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420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income in days, not months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2542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25420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282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80760" y="25420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282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○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60920" y="25420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282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816352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7121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49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Personalized pathway engine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28712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17720" y="28712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282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○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80760" y="28712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282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60920" y="28712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282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145536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2004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Done-for-you franchise model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4612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17720" y="3200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282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3200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282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60920" y="3200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282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3474720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52958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49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Human + psycho-social support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46120" y="35295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●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17720" y="35295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282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○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352958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282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○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60920" y="352958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282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○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3803904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8587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Marketplace to sell AI solutions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46120" y="38587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●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17720" y="38587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282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○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80760" y="38587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282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○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60920" y="38587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282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○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4133088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1879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49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SMB-accessible pricing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46120" y="4187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●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617720" y="41879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●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080760" y="4187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282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○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60920" y="4187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282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○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2920" y="4462272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451713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Business infrastructure included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246120" y="45171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●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617720" y="45171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282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○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080760" y="45171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282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○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360920" y="45171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282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○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94360" y="4937760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AIBridge is the only platform that takes you from AI confusion to income — with human support.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503920" y="4828032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0" kern="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TEAM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story is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advantage.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94360" y="2084832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21284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Founder &amp; CEO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248716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20+ years in technology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85292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EDE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15 years at Apple — WW Customer Service App Leadership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21868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Personal transformation through meditation &amp; human psychology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358444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Built GoToRetreats &amp; GoToStudio from lived experience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95020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EDE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Unique intersection: tech operator + human practitioner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36592" y="2212848"/>
            <a:ext cx="7315" cy="2240280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221284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BAF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Hiring on Funding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19472" y="248716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AI / Product Lead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19472" y="285292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Growth + SEO Engineer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9472" y="321868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Marketplace Operations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9472" y="358444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Enterprise Partnerships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19472" y="3968496"/>
            <a:ext cx="393192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405993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Board of Advisors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19472" y="431596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Advisors across AI, wellness, enterprise governance and capital markets. Details provided upon investor request.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" y="4617720"/>
            <a:ext cx="7955280" cy="7315"/>
          </a:xfrm>
          <a:prstGeom prst="rect">
            <a:avLst/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70916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founder is not a technologist who discovered AI. They are a human transformation practitioner who built technology — the exact convergence required for this mission.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828032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0" kern="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FINANCIAL MODEL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$0.6M → $8.8M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 three years.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94360" y="2084832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2212848"/>
          <a:ext cx="47548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2212848"/>
            <a:ext cx="329184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77840" y="22860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Year 1  $0.6M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77840" y="259689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350 paid accounts EOY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577840" y="279806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20 implementation projects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577840" y="299923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Early marketplace revenue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77840" y="3054096"/>
            <a:ext cx="329184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0" y="312724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Year 2  $2.4M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577840" y="343814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1,600 paid accounts EOY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577840" y="363931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Partner ecosystem active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577840" y="38404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First enterprise pilots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77840" y="3895344"/>
            <a:ext cx="329184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77840" y="396849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Year 3  $8.8M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577840" y="427939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5,500 paid accounts EOY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577840" y="44805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Mature partner network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577840" y="468172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— Enterprise programs live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94360" y="4956048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Illustrative model. Not audited financial guidance.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8503920" y="4828032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0" kern="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ASK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0" y="411480"/>
            <a:ext cx="9144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$2M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0" y="315468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Seed Round  ·  SAFE  ·  $10M–$15M Valuation Cap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3611880"/>
            <a:ext cx="640080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73075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973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45%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420624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Product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Engineering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258568" y="373075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AFA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58568" y="420624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Growth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Distribution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31336" y="373075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AFA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831336" y="420624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Key Hires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04104" y="373075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04104" y="420624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Enterprise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Pilots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976872" y="373075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625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76872" y="420624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Legal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Finance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371600" y="4709160"/>
            <a:ext cx="640080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8006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18–24 months runway  ·  Closing Q3 2026  ·  hello@aibridge.one  ·  app.aibridge.one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0" y="4828032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0" kern="0" dirty="0">
                <a:solidFill>
                  <a:srgbClr val="E8973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SOURCES &amp; NOTES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Market Data &amp; Assumptions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8132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McKinsey &amp; Company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154680" y="1536192"/>
            <a:ext cx="7315" cy="201168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481328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$2.6T–$4.4T annual AI economic value potential, 2023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94360" y="1810512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6537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Goldman Sachs Research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54680" y="1920240"/>
            <a:ext cx="7315" cy="201168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865376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300M jobs exposed to automation, 2023 &amp; 2026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4360" y="2194560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4942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Global Wellness Institute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154680" y="2304288"/>
            <a:ext cx="7315" cy="201168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249424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Wellness economy projected to $9T by 2028, Monitor 2024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" y="2578608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3347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WHO / Harvard Business School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54680" y="2688336"/>
            <a:ext cx="7315" cy="201168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633472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$1T annual productivity lost to depression &amp; anxiety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4360" y="2962656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01752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U.S. Small Business Administration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154680" y="3072384"/>
            <a:ext cx="7315" cy="201168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017520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36.2M U.S. small businesses; 45.9% of private-sector employment, 2025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" y="3346704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40156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Allied Market Research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54680" y="3456432"/>
            <a:ext cx="7315" cy="201168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401568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Corporate training market $361.5B (2023) → $805.6B by 2035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730752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78561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PitchBook / NVCA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154680" y="3840480"/>
            <a:ext cx="7315" cy="201168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785616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captured 65.6% of all US VC deal value in 2025 — $222B of $339B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94360" y="4114800"/>
            <a:ext cx="795528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16966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AFA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Company Operating Data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154680" y="4224528"/>
            <a:ext cx="7315" cy="201168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4169664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500+ listings, 1,000+ users, live marketplace, Socrates V1 complete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94360" y="491947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Financial projections are illustrative and assumption-based. This presentation does not constitute an offer to sell or solicitation to buy securities.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503920" y="4828032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2286000"/>
            <a:ext cx="6400800" cy="6400800"/>
          </a:xfrm>
          <a:prstGeom prst="ellipse">
            <a:avLst/>
          </a:prstGeom>
          <a:solidFill>
            <a:srgbClr val="1E0E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3200400"/>
            <a:ext cx="3657600" cy="3657600"/>
          </a:xfrm>
          <a:prstGeom prst="ellipse">
            <a:avLst/>
          </a:prstGeom>
          <a:solidFill>
            <a:srgbClr val="2A12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48640"/>
            <a:ext cx="7955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Humanity does not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need to fear AI.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94360" y="28346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8973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It needs guidance through the transition.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520440"/>
            <a:ext cx="2743200" cy="7315"/>
          </a:xfrm>
          <a:prstGeom prst="rect">
            <a:avLst/>
          </a:prstGeom>
          <a:solidFill>
            <a:srgbClr val="2E2820"/>
          </a:solidFill>
          <a:ln w="12700">
            <a:solidFill>
              <a:srgbClr val="2E28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67588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EDE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AIBridge Holdings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413308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hello@aibridge.one  ·  app.aibridge.one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AIBridge Holdings — Investor Deck 2026</dc:title>
  <dc:subject>PptxGenJS Presentation</dc:subject>
  <dc:creator>PptxGenJS</dc:creator>
  <cp:lastModifiedBy>PptxGenJS</cp:lastModifiedBy>
  <cp:revision>1</cp:revision>
  <dcterms:created xsi:type="dcterms:W3CDTF">2026-05-28T08:53:39Z</dcterms:created>
  <dcterms:modified xsi:type="dcterms:W3CDTF">2026-05-28T08:53:39Z</dcterms:modified>
</cp:coreProperties>
</file>